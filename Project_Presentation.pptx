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AI-Based Electronic Component</a:t>
            </a:r>
            <a:br/>
            <a:r>
              <a:t>Remaining Useful Life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Machine-learning capstone project</a:t>
            </a:r>
          </a:p>
          <a:p>
            <a:pPr>
              <a:spcAft>
                <a:spcPts val="1400"/>
              </a:spcAft>
              <a:defRPr sz="2100"/>
            </a:pPr>
            <a:r>
              <a:t>Time-series feature engineering + regression</a:t>
            </a:r>
          </a:p>
          <a:p>
            <a:pPr>
              <a:spcAft>
                <a:spcPts val="1400"/>
              </a:spcAft>
              <a:defRPr sz="2100"/>
            </a:pPr>
            <a:r>
              <a:t>Dataset included is synthetic and for educational demonstration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Estimate remaining useful life (RUL) from component operating measurements.</a:t>
            </a:r>
          </a:p>
          <a:p>
            <a:pPr>
              <a:spcAft>
                <a:spcPts val="1400"/>
              </a:spcAft>
              <a:defRPr sz="2100"/>
            </a:pPr>
            <a:r>
              <a:t>Study aging indicators such as temperature, load, ripple, ESR, capacitance and efficiency.</a:t>
            </a:r>
          </a:p>
          <a:p>
            <a:pPr>
              <a:spcAft>
                <a:spcPts val="1400"/>
              </a:spcAft>
              <a:defRPr sz="2100"/>
            </a:pPr>
            <a:r>
              <a:t>Compare Random Forest and Gradient Boosting regression.</a:t>
            </a:r>
          </a:p>
          <a:p>
            <a:pPr>
              <a:spcAft>
                <a:spcPts val="1400"/>
              </a:spcAft>
              <a:defRPr sz="2100"/>
            </a:pPr>
            <a:r>
              <a:t>Evaluate with MAE, RMSE and R² on unseen component IDs.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Dataset &amp;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180 simulated components; observations sampled across component life.</a:t>
            </a:r>
          </a:p>
          <a:p>
            <a:pPr>
              <a:spcAft>
                <a:spcPts val="1400"/>
              </a:spcAft>
              <a:defRPr sz="2100"/>
            </a:pPr>
            <a:r>
              <a:t>Inputs: age cycle, ambient/case temperature, load, voltage, ripple, vibration, ESR, capacitance and efficiency.</a:t>
            </a:r>
          </a:p>
          <a:p>
            <a:pPr>
              <a:spcAft>
                <a:spcPts val="1400"/>
              </a:spcAft>
              <a:defRPr sz="2100"/>
            </a:pPr>
            <a:r>
              <a:t>Target: rul_cycles — simulated cycles remaining until end-of-life.</a:t>
            </a:r>
          </a:p>
          <a:p>
            <a:pPr>
              <a:spcAft>
                <a:spcPts val="1400"/>
              </a:spcAft>
              <a:defRPr sz="2100"/>
            </a:pPr>
            <a:r>
              <a:t>Provenance: synthetic simulation, not real laboratory or field measurements.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1. Generate / load time-series data</a:t>
            </a:r>
          </a:p>
          <a:p>
            <a:pPr>
              <a:spcAft>
                <a:spcPts val="1400"/>
              </a:spcAft>
              <a:defRPr sz="2100"/>
            </a:pPr>
            <a:r>
              <a:t>2. Validate and sort by component and cycle</a:t>
            </a:r>
          </a:p>
          <a:p>
            <a:pPr>
              <a:spcAft>
                <a:spcPts val="1400"/>
              </a:spcAft>
              <a:defRPr sz="2100"/>
            </a:pPr>
            <a:r>
              <a:t>3. Engineer stress, rolling-average and trend features</a:t>
            </a:r>
          </a:p>
          <a:p>
            <a:pPr>
              <a:spcAft>
                <a:spcPts val="1400"/>
              </a:spcAft>
              <a:defRPr sz="2100"/>
            </a:pPr>
            <a:r>
              <a:t>4. Split by component ID to reduce data leakage</a:t>
            </a:r>
          </a:p>
          <a:p>
            <a:pPr>
              <a:spcAft>
                <a:spcPts val="1400"/>
              </a:spcAft>
              <a:defRPr sz="2100"/>
            </a:pPr>
            <a:r>
              <a:t>5. Train two regressors and compare error metrics</a:t>
            </a:r>
          </a:p>
          <a:p>
            <a:pPr>
              <a:spcAft>
                <a:spcPts val="1400"/>
              </a:spcAft>
              <a:defRPr sz="2100"/>
            </a:pPr>
            <a:r>
              <a:t>6. Save model, prediction files, graphs and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Thermal stress above 40°C and squared normalized load.</a:t>
            </a:r>
          </a:p>
          <a:p>
            <a:pPr>
              <a:spcAft>
                <a:spcPts val="1400"/>
              </a:spcAft>
              <a:defRPr sz="2100"/>
            </a:pPr>
            <a:r>
              <a:t>Ripple stress, normalized age and ESR-to-capacitance ratio.</a:t>
            </a:r>
          </a:p>
          <a:p>
            <a:pPr>
              <a:spcAft>
                <a:spcPts val="1400"/>
              </a:spcAft>
              <a:defRPr sz="2100"/>
            </a:pPr>
            <a:r>
              <a:t>Efficiency loss relative to 100%.</a:t>
            </a:r>
          </a:p>
          <a:p>
            <a:pPr>
              <a:spcAft>
                <a:spcPts val="1400"/>
              </a:spcAft>
              <a:defRPr sz="2100"/>
            </a:pPr>
            <a:r>
              <a:t>Three-observation rolling means and first-difference trends for selected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Models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Random Forest Regressor: ensemble of trees; models nonlinear interactions.</a:t>
            </a:r>
          </a:p>
          <a:p>
            <a:pPr>
              <a:spcAft>
                <a:spcPts val="1400"/>
              </a:spcAft>
              <a:defRPr sz="2100"/>
            </a:pPr>
            <a:r>
              <a:t>Gradient Boosting Regressor: sequential shallow trees; Huber loss.</a:t>
            </a:r>
          </a:p>
          <a:p>
            <a:pPr>
              <a:spcAft>
                <a:spcPts val="1400"/>
              </a:spcAft>
              <a:defRPr sz="2100"/>
            </a:pPr>
            <a:r>
              <a:t>MAE: average absolute error; RMSE penalizes larger errors.</a:t>
            </a:r>
          </a:p>
          <a:p>
            <a:pPr>
              <a:spcAft>
                <a:spcPts val="1400"/>
              </a:spcAft>
              <a:defRPr sz="2100"/>
            </a:pPr>
            <a:r>
              <a:t>R²: comparison against a mean-target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Results on Synthetic Holdout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Random Forest — MAE 11.99 cycles; RMSE 39.36 cycles; R² 0.9865.</a:t>
            </a:r>
          </a:p>
          <a:p>
            <a:pPr>
              <a:spcAft>
                <a:spcPts val="1400"/>
              </a:spcAft>
              <a:defRPr sz="2100"/>
            </a:pPr>
            <a:r>
              <a:t>Gradient Boosting — MAE 53.25 cycles; RMSE 84.03 cycles; R² 0.9386.</a:t>
            </a:r>
          </a:p>
          <a:p>
            <a:pPr>
              <a:spcAft>
                <a:spcPts val="1400"/>
              </a:spcAft>
              <a:defRPr sz="2100"/>
            </a:pPr>
            <a:r>
              <a:t>Random Forest selected by lowest MAE for this generated-data run.</a:t>
            </a:r>
          </a:p>
          <a:p>
            <a:pPr>
              <a:spcAft>
                <a:spcPts val="1400"/>
              </a:spcAft>
              <a:defRPr sz="2100"/>
            </a:pPr>
            <a:r>
              <a:t>Scores demonstrate the pipeline only; they do not establish real-world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Predicted vs Actual RUL</a:t>
            </a:r>
          </a:p>
        </p:txBody>
      </p:sp>
      <p:pic>
        <p:nvPicPr>
          <p:cNvPr id="3" name="Picture 2" descr="predict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51560"/>
            <a:ext cx="7863840" cy="5897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0" y="1828800"/>
            <a:ext cx="2743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Points closer to the diagonal indicate better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Residual Error Analysis</a:t>
            </a:r>
          </a:p>
        </p:txBody>
      </p:sp>
      <p:pic>
        <p:nvPicPr>
          <p:cNvPr id="3" name="Picture 2" descr="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51560"/>
            <a:ext cx="7863840" cy="4914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0" y="1828800"/>
            <a:ext cx="2743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Residual = predicted RUL minus actual RUL.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051560"/>
            <a:ext cx="7863840" cy="611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69680" y="1828800"/>
            <a:ext cx="2743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Model importance indicates predictive association, not causation.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Dashboard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Optional Streamlit dashboard: explore dataset and enter operating measurements.</a:t>
            </a:r>
          </a:p>
          <a:p>
            <a:pPr>
              <a:spcAft>
                <a:spcPts val="1400"/>
              </a:spcAft>
              <a:defRPr sz="2100"/>
            </a:pPr>
            <a:r>
              <a:t>Run: streamlit run run_dashboard.py</a:t>
            </a:r>
          </a:p>
          <a:p>
            <a:pPr>
              <a:spcAft>
                <a:spcPts val="1400"/>
              </a:spcAft>
              <a:defRPr sz="2100"/>
            </a:pPr>
            <a:r>
              <a:t>The model estimates RUL in simulated cycles.</a:t>
            </a:r>
          </a:p>
          <a:p>
            <a:pPr>
              <a:spcAft>
                <a:spcPts val="1400"/>
              </a:spcAft>
              <a:defRPr sz="2100"/>
            </a:pPr>
            <a:r>
              <a:t>For one-row inputs, rolling/trend history is limited; real time-series inputs are preferable.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Synthetic data and simplified end-of-life assumptions.</a:t>
            </a:r>
          </a:p>
          <a:p>
            <a:pPr>
              <a:spcAft>
                <a:spcPts val="1400"/>
              </a:spcAft>
              <a:defRPr sz="2100"/>
            </a:pPr>
            <a:r>
              <a:t>No uncertainty intervals; feature importance is not causal evidence.</a:t>
            </a:r>
          </a:p>
          <a:p>
            <a:pPr>
              <a:spcAft>
                <a:spcPts val="1400"/>
              </a:spcAft>
              <a:defRPr sz="2100"/>
            </a:pPr>
            <a:r>
              <a:t>Replace with measured component-aging data and validate independently.</a:t>
            </a:r>
          </a:p>
          <a:p>
            <a:pPr>
              <a:spcAft>
                <a:spcPts val="1400"/>
              </a:spcAft>
              <a:defRPr sz="2100"/>
            </a:pPr>
            <a:r>
              <a:t>Add time-series cross-validation, confidence intervals and drift monitoring.</a:t>
            </a:r>
          </a:p>
          <a:p>
            <a:pPr>
              <a:spcAft>
                <a:spcPts val="1400"/>
              </a:spcAft>
              <a:defRPr sz="2100"/>
            </a:pPr>
            <a:r>
              <a:t>Do not use this prototype for safety-critical maintenance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C64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Implemented a reproducible end-to-end RUL regression workflow.</a:t>
            </a:r>
          </a:p>
          <a:p>
            <a:pPr>
              <a:spcAft>
                <a:spcPts val="1400"/>
              </a:spcAft>
              <a:defRPr sz="2100"/>
            </a:pPr>
            <a:r>
              <a:t>Includes dataset generator, feature engineering, two models, metrics, plots and saved model.</a:t>
            </a:r>
          </a:p>
          <a:p>
            <a:pPr>
              <a:spcAft>
                <a:spcPts val="1400"/>
              </a:spcAft>
              <a:defRPr sz="2100"/>
            </a:pPr>
            <a:r>
              <a:t>Report, source code, viva questions and this presentation are included in the ZIP.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